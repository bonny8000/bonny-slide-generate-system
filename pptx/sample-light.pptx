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286000"/>
            <a:ext cx="109728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1">
                <a:solidFill>
                  <a:srgbClr val="7C7E92"/>
                </a:solidFill>
                <a:latin typeface="Arial"/>
                <a:ea typeface="Noto Sans TC"/>
              </a:rPr>
              <a:t>User Research · Interview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730500"/>
            <a:ext cx="10972800" cy="1397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500" b="1">
                <a:solidFill>
                  <a:srgbClr val="2B3040"/>
                </a:solidFill>
                <a:latin typeface="Noto Sans TC"/>
                <a:ea typeface="Noto Sans TC"/>
              </a:rPr>
              <a:t>獨居住戶對「</a:t>
            </a:r>
            <a:r>
              <a:rPr sz="2500" b="1">
                <a:solidFill>
                  <a:srgbClr val="7077FB"/>
                </a:solidFill>
                <a:latin typeface="Noto Sans TC"/>
                <a:ea typeface="Noto Sans TC"/>
              </a:rPr>
              <a:t>陌生訪客接觸</a:t>
            </a:r>
            <a:r>
              <a:rPr sz="2500" b="1">
                <a:solidFill>
                  <a:srgbClr val="2B3040"/>
                </a:solidFill>
                <a:latin typeface="Noto Sans TC"/>
                <a:ea typeface="Noto Sans TC"/>
              </a:rPr>
              <a:t>」的焦慮，與對自動化驗證的明確期待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190999"/>
            <a:ext cx="109728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850" b="0">
                <a:solidFill>
                  <a:srgbClr val="7C7E92"/>
                </a:solidFill>
                <a:latin typeface="Arial"/>
                <a:ea typeface="Noto Sans TC"/>
              </a:rPr>
              <a:t>Findings from 3 in-depth interviews with solo dwellers.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320800"/>
            <a:ext cx="10972800" cy="4216400"/>
          </a:xfrm>
          <a:prstGeom prst="roundRect">
            <a:avLst>
              <a:gd name="adj" fmla="val 5000"/>
            </a:avLst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1689100"/>
            <a:ext cx="10160000" cy="317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1">
                <a:solidFill>
                  <a:srgbClr val="7077FB"/>
                </a:solidFill>
                <a:latin typeface="Arial"/>
                <a:ea typeface="Noto Sans TC"/>
              </a:rPr>
              <a:t>Q. </a:t>
            </a:r>
            <a:r>
              <a:rPr sz="1000" b="1">
                <a:solidFill>
                  <a:srgbClr val="2B3040"/>
                </a:solidFill>
                <a:latin typeface="Noto Sans TC"/>
                <a:ea typeface="Noto Sans TC"/>
              </a:rPr>
              <a:t>獨居者最擔心的安全情境是什麼？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2184400"/>
            <a:ext cx="876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2B3040"/>
                </a:solidFill>
                <a:latin typeface="Noto Sans TC"/>
                <a:ea typeface="Noto Sans TC"/>
              </a:rPr>
              <a:t>陌生訪客接觸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000" y="2501900"/>
            <a:ext cx="5240274" cy="228600"/>
          </a:xfrm>
          <a:prstGeom prst="roundRect">
            <a:avLst>
              <a:gd name="adj" fmla="val 50000"/>
            </a:avLst>
          </a:prstGeom>
          <a:solidFill>
            <a:srgbClr val="707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31400" y="2438400"/>
            <a:ext cx="12446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7077FB"/>
                </a:solidFill>
                <a:latin typeface="Arial"/>
                <a:ea typeface="Noto Sans TC"/>
              </a:rPr>
              <a:t>59.8%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921000"/>
            <a:ext cx="876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2B3040"/>
                </a:solidFill>
                <a:latin typeface="Noto Sans TC"/>
                <a:ea typeface="Noto Sans TC"/>
              </a:rPr>
              <a:t>包裹堆積、暴露行蹤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000" y="3238500"/>
            <a:ext cx="2699004" cy="228600"/>
          </a:xfrm>
          <a:prstGeom prst="roundRect">
            <a:avLst>
              <a:gd name="adj" fmla="val 50000"/>
            </a:avLst>
          </a:prstGeom>
          <a:solidFill>
            <a:srgbClr val="DCE0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31400" y="3175000"/>
            <a:ext cx="12446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7C7E92"/>
                </a:solidFill>
                <a:latin typeface="Arial"/>
                <a:ea typeface="Noto Sans TC"/>
              </a:rPr>
              <a:t>30.8%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657600"/>
            <a:ext cx="876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2B3040"/>
                </a:solidFill>
                <a:latin typeface="Noto Sans TC"/>
                <a:ea typeface="Noto Sans TC"/>
              </a:rPr>
              <a:t>夜間返家被尾隨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6000" y="3975100"/>
            <a:ext cx="1515999" cy="228600"/>
          </a:xfrm>
          <a:prstGeom prst="roundRect">
            <a:avLst>
              <a:gd name="adj" fmla="val 50000"/>
            </a:avLst>
          </a:prstGeom>
          <a:solidFill>
            <a:srgbClr val="DCE0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31400" y="3911600"/>
            <a:ext cx="12446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7C7E92"/>
                </a:solidFill>
                <a:latin typeface="Arial"/>
                <a:ea typeface="Noto Sans TC"/>
              </a:rPr>
              <a:t>17.3%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4394200"/>
            <a:ext cx="876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2B3040"/>
                </a:solidFill>
                <a:latin typeface="Noto Sans TC"/>
                <a:ea typeface="Noto Sans TC"/>
              </a:rPr>
              <a:t>鄰里出現陌生人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6000" y="4711700"/>
            <a:ext cx="1226820" cy="228600"/>
          </a:xfrm>
          <a:prstGeom prst="roundRect">
            <a:avLst>
              <a:gd name="adj" fmla="val 50000"/>
            </a:avLst>
          </a:prstGeom>
          <a:solidFill>
            <a:srgbClr val="DCE0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31400" y="4648200"/>
            <a:ext cx="12446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7C7E92"/>
                </a:solidFill>
                <a:latin typeface="Arial"/>
                <a:ea typeface="Noto Sans TC"/>
              </a:rPr>
              <a:t>14.0%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095499"/>
            <a:ext cx="1460500" cy="355600"/>
          </a:xfrm>
          <a:prstGeom prst="roundRect">
            <a:avLst>
              <a:gd name="adj" fmla="val 50000"/>
            </a:avLst>
          </a:prstGeom>
          <a:solidFill>
            <a:srgbClr val="707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171700"/>
            <a:ext cx="14605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900" b="1">
                <a:solidFill>
                  <a:srgbClr val="FFFFFF"/>
                </a:solidFill>
                <a:latin typeface="Noto Sans TC"/>
                <a:ea typeface="Noto Sans TC"/>
              </a:rPr>
              <a:t>產品特色 ·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667000"/>
            <a:ext cx="3937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00" b="1">
                <a:solidFill>
                  <a:srgbClr val="2B3040"/>
                </a:solidFill>
                <a:latin typeface="Noto Sans TC"/>
                <a:ea typeface="Noto Sans TC"/>
              </a:rPr>
              <a:t>為獨居住戶而生的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810000"/>
            <a:ext cx="38100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>
                <a:solidFill>
                  <a:srgbClr val="7C7E92"/>
                </a:solidFill>
                <a:latin typeface="Noto Sans TC"/>
                <a:ea typeface="Noto Sans TC"/>
              </a:rPr>
              <a:t>將「等待」轉為「主動」，覆蓋從通知到收件的完整安全流程。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0" y="1847850"/>
            <a:ext cx="5867400" cy="952500"/>
          </a:xfrm>
          <a:prstGeom prst="roundRect">
            <a:avLst>
              <a:gd name="adj" fmla="val 12000"/>
            </a:avLst>
          </a:prstGeom>
          <a:solidFill>
            <a:srgbClr val="F1F4F9"/>
          </a:solidFill>
          <a:ln w="12700">
            <a:solidFill>
              <a:srgbClr val="DCE0E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2038349"/>
            <a:ext cx="48514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2B3040"/>
                </a:solidFill>
                <a:latin typeface="Noto Sans TC"/>
                <a:ea typeface="Noto Sans TC"/>
              </a:rPr>
              <a:t>到達通知 · </a:t>
            </a:r>
            <a:r>
              <a:rPr sz="1100" b="1">
                <a:solidFill>
                  <a:srgbClr val="2B3040"/>
                </a:solidFill>
                <a:latin typeface="Arial"/>
                <a:ea typeface="Noto Sans TC"/>
              </a:rPr>
              <a:t>Notification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343150"/>
            <a:ext cx="48514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7C7E92"/>
                </a:solidFill>
                <a:latin typeface="Noto Sans TC"/>
                <a:ea typeface="Noto Sans TC"/>
              </a:rPr>
              <a:t>配送員抵達即時推播。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2952750"/>
            <a:ext cx="5867400" cy="952500"/>
          </a:xfrm>
          <a:prstGeom prst="roundRect">
            <a:avLst>
              <a:gd name="adj" fmla="val 12000"/>
            </a:avLst>
          </a:prstGeom>
          <a:solidFill>
            <a:srgbClr val="707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3143250"/>
            <a:ext cx="48514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</a:rPr>
              <a:t>安心對講 · </a:t>
            </a:r>
            <a:r>
              <a:rPr sz="1100" b="1">
                <a:solidFill>
                  <a:srgbClr val="FFFFFF"/>
                </a:solidFill>
                <a:latin typeface="Arial"/>
                <a:ea typeface="Noto Sans TC"/>
              </a:rPr>
              <a:t>Smart Intercom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448050"/>
            <a:ext cx="48514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FFFFFF"/>
                </a:solidFill>
                <a:latin typeface="Noto Sans TC"/>
                <a:ea typeface="Noto Sans TC"/>
              </a:rPr>
              <a:t>QR／編號驗證，一鍵 OK／拒絕。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4057650"/>
            <a:ext cx="5867400" cy="952500"/>
          </a:xfrm>
          <a:prstGeom prst="roundRect">
            <a:avLst>
              <a:gd name="adj" fmla="val 12000"/>
            </a:avLst>
          </a:prstGeom>
          <a:solidFill>
            <a:srgbClr val="F1F4F9"/>
          </a:solidFill>
          <a:ln w="12700">
            <a:solidFill>
              <a:srgbClr val="DCE0E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4248150"/>
            <a:ext cx="48514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2B3040"/>
                </a:solidFill>
                <a:latin typeface="Noto Sans TC"/>
                <a:ea typeface="Noto Sans TC"/>
              </a:rPr>
              <a:t>無人收件保管 · </a:t>
            </a:r>
            <a:r>
              <a:rPr sz="1100" b="1">
                <a:solidFill>
                  <a:srgbClr val="2B3040"/>
                </a:solidFill>
                <a:latin typeface="Arial"/>
                <a:ea typeface="Noto Sans TC"/>
              </a:rPr>
              <a:t>Pickup Locker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552950"/>
            <a:ext cx="48514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7C7E92"/>
                </a:solidFill>
                <a:latin typeface="Noto Sans TC"/>
                <a:ea typeface="Noto Sans TC"/>
              </a:rPr>
              <a:t>不在時自動保管，回家解鎖取件。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